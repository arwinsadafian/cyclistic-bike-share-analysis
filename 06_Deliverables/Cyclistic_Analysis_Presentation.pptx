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A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7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Avg Duration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79-46A0-B50D-D4C40A1A6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F6B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Avg Duration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79-46A0-B50D-D4C40A1A6B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 baseline="0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b"/>
        <c:majorGridlines>
          <c:spPr>
            <a:ln w="12700" cap="flat">
              <a:solidFill>
                <a:srgbClr val="2A4A6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Minutes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DA4B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380</c:v>
                </c:pt>
                <c:pt idx="1">
                  <c:v>420</c:v>
                </c:pt>
                <c:pt idx="2">
                  <c:v>415</c:v>
                </c:pt>
                <c:pt idx="3">
                  <c:v>410</c:v>
                </c:pt>
                <c:pt idx="4">
                  <c:v>390</c:v>
                </c:pt>
                <c:pt idx="5">
                  <c:v>320</c:v>
                </c:pt>
                <c:pt idx="6">
                  <c:v>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08-456C-ADBC-E52DBB2ADB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F6B9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36</c:v>
                </c:pt>
                <c:pt idx="3">
                  <c:v>37</c:v>
                </c:pt>
                <c:pt idx="4">
                  <c:v>42</c:v>
                </c:pt>
                <c:pt idx="5">
                  <c:v>58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08-456C-ADBC-E52DBB2AD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Day of Week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A4A6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Rides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655095120409227"/>
          <c:y val="0.86672209769399267"/>
          <c:w val="0.25541372109508209"/>
          <c:h val="5.8663141559859765E-2"/>
        </c:manualLayout>
      </c:layout>
      <c:overlay val="0"/>
      <c:txPr>
        <a:bodyPr/>
        <a:lstStyle/>
        <a:p>
          <a:pPr>
            <a:defRPr>
              <a:solidFill>
                <a:srgbClr val="8DA4B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ln w="38100" cap="flat">
              <a:solidFill>
                <a:srgbClr val="00D4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Q1'19</c:v>
                </c:pt>
                <c:pt idx="1">
                  <c:v>Q2'19</c:v>
                </c:pt>
                <c:pt idx="2">
                  <c:v>Q3'19</c:v>
                </c:pt>
                <c:pt idx="3">
                  <c:v>Q4'19</c:v>
                </c:pt>
                <c:pt idx="4">
                  <c:v>Q1'20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342</c:v>
                </c:pt>
                <c:pt idx="1">
                  <c:v>680</c:v>
                </c:pt>
                <c:pt idx="2">
                  <c:v>1100</c:v>
                </c:pt>
                <c:pt idx="3">
                  <c:v>496</c:v>
                </c:pt>
                <c:pt idx="4">
                  <c:v>378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2B-43D5-9875-1DA01B9A51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ln w="38100" cap="flat">
              <a:solidFill>
                <a:srgbClr val="FF6B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9D"/>
              </a:solidFill>
              <a:ln w="9525" cap="flat">
                <a:solidFill>
                  <a:srgbClr val="FF6B9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Q1'19</c:v>
                </c:pt>
                <c:pt idx="1">
                  <c:v>Q2'19</c:v>
                </c:pt>
                <c:pt idx="2">
                  <c:v>Q3'19</c:v>
                </c:pt>
                <c:pt idx="3">
                  <c:v>Q4'19</c:v>
                </c:pt>
                <c:pt idx="4">
                  <c:v>Q1'20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</c:v>
                </c:pt>
                <c:pt idx="1">
                  <c:v>148</c:v>
                </c:pt>
                <c:pt idx="2">
                  <c:v>491</c:v>
                </c:pt>
                <c:pt idx="3">
                  <c:v>137</c:v>
                </c:pt>
                <c:pt idx="4">
                  <c:v>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12B-43D5-9875-1DA01B9A51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Quarter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A4A6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Rides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DA4B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ln w="38100" cap="flat">
              <a:solidFill>
                <a:srgbClr val="00D4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6am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12pm</c:v>
                </c:pt>
                <c:pt idx="7">
                  <c:v>1</c:v>
                </c:pt>
                <c:pt idx="8">
                  <c:v>2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6</c:v>
                </c:pt>
                <c:pt idx="13">
                  <c:v>7</c:v>
                </c:pt>
                <c:pt idx="14">
                  <c:v>8pm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45</c:v>
                </c:pt>
                <c:pt idx="1">
                  <c:v>120</c:v>
                </c:pt>
                <c:pt idx="2">
                  <c:v>185</c:v>
                </c:pt>
                <c:pt idx="3">
                  <c:v>95</c:v>
                </c:pt>
                <c:pt idx="4">
                  <c:v>70</c:v>
                </c:pt>
                <c:pt idx="5">
                  <c:v>85</c:v>
                </c:pt>
                <c:pt idx="6">
                  <c:v>110</c:v>
                </c:pt>
                <c:pt idx="7">
                  <c:v>105</c:v>
                </c:pt>
                <c:pt idx="8">
                  <c:v>100</c:v>
                </c:pt>
                <c:pt idx="9">
                  <c:v>115</c:v>
                </c:pt>
                <c:pt idx="10">
                  <c:v>145</c:v>
                </c:pt>
                <c:pt idx="11">
                  <c:v>195</c:v>
                </c:pt>
                <c:pt idx="12">
                  <c:v>150</c:v>
                </c:pt>
                <c:pt idx="13">
                  <c:v>95</c:v>
                </c:pt>
                <c:pt idx="14">
                  <c:v>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C97-43C1-8391-5ED6E40D6E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</c:v>
                </c:pt>
              </c:strCache>
            </c:strRef>
          </c:tx>
          <c:spPr>
            <a:ln w="38100" cap="flat">
              <a:solidFill>
                <a:srgbClr val="FF6B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9D"/>
              </a:solidFill>
              <a:ln w="9525" cap="flat">
                <a:solidFill>
                  <a:srgbClr val="FF6B9D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6am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12pm</c:v>
                </c:pt>
                <c:pt idx="7">
                  <c:v>1</c:v>
                </c:pt>
                <c:pt idx="8">
                  <c:v>2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6</c:v>
                </c:pt>
                <c:pt idx="13">
                  <c:v>7</c:v>
                </c:pt>
                <c:pt idx="14">
                  <c:v>8pm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8</c:v>
                </c:pt>
                <c:pt idx="1">
                  <c:v>12</c:v>
                </c:pt>
                <c:pt idx="2">
                  <c:v>18</c:v>
                </c:pt>
                <c:pt idx="3">
                  <c:v>22</c:v>
                </c:pt>
                <c:pt idx="4">
                  <c:v>30</c:v>
                </c:pt>
                <c:pt idx="5">
                  <c:v>38</c:v>
                </c:pt>
                <c:pt idx="6">
                  <c:v>42</c:v>
                </c:pt>
                <c:pt idx="7">
                  <c:v>45</c:v>
                </c:pt>
                <c:pt idx="8">
                  <c:v>48</c:v>
                </c:pt>
                <c:pt idx="9">
                  <c:v>52</c:v>
                </c:pt>
                <c:pt idx="10">
                  <c:v>55</c:v>
                </c:pt>
                <c:pt idx="11">
                  <c:v>50</c:v>
                </c:pt>
                <c:pt idx="12">
                  <c:v>42</c:v>
                </c:pt>
                <c:pt idx="13">
                  <c:v>32</c:v>
                </c:pt>
                <c:pt idx="14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C97-43C1-8391-5ED6E40D6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Hour of Day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A4A6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DA4BF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8DA4BF"/>
                    </a:solidFill>
                    <a:latin typeface="Arial"/>
                  </a:rPr>
                  <a:t>Rides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DA4B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41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8c44e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9533" y="1380381"/>
            <a:ext cx="33846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CYCLISTIC BIKE-SHARE ANALYSIS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765133" y="1795611"/>
            <a:ext cx="5613586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9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Casual Riders</a:t>
            </a:r>
            <a:endParaRPr lang="en-US" sz="3900" dirty="0"/>
          </a:p>
          <a:p>
            <a:pPr marL="0" indent="0" algn="ctr">
              <a:lnSpc>
                <a:spcPts val="429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Annual Members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4190851" y="3189833"/>
            <a:ext cx="762000" cy="28575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69367" y="3523208"/>
            <a:ext cx="26049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Marketing Strategy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97180" y="46787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Multi-Tool Analysis: Python • Excel • SQL • R • Tableau</a:t>
            </a:r>
            <a:endParaRPr lang="en-US" sz="9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7BC90EB-8DFF-94D7-0837-8233286B5F28}"/>
              </a:ext>
            </a:extLst>
          </p:cNvPr>
          <p:cNvSpPr/>
          <p:nvPr/>
        </p:nvSpPr>
        <p:spPr>
          <a:xfrm>
            <a:off x="297180" y="4979529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Arwin Sadafian | January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79934"/>
            <a:ext cx="3686175" cy="1273373"/>
          </a:xfrm>
          <a:prstGeom prst="roundRect">
            <a:avLst>
              <a:gd name="adj" fmla="val 299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79934"/>
            <a:ext cx="0" cy="1273373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1570434"/>
            <a:ext cx="33324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819870"/>
            <a:ext cx="333241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represent </a:t>
            </a:r>
            <a:r>
              <a:rPr lang="en-US" sz="112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all rides but show strong engagement patterns that indicate conversion potential.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805708"/>
            <a:ext cx="3686175" cy="1453158"/>
          </a:xfrm>
          <a:prstGeom prst="roundRect">
            <a:avLst>
              <a:gd name="adj" fmla="val 262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996208"/>
            <a:ext cx="33712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3283744"/>
            <a:ext cx="33712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71500" y="3695105"/>
            <a:ext cx="33712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average ride duration for casual users vs. members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7675" y="1390650"/>
            <a:ext cx="4505325" cy="87630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48175" y="1543050"/>
            <a:ext cx="571500" cy="571500"/>
          </a:xfrm>
          <a:prstGeom prst="roundRect">
            <a:avLst>
              <a:gd name="adj" fmla="val 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72075" y="1632645"/>
            <a:ext cx="200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Rides Analyzed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2075" y="1864965"/>
            <a:ext cx="20092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dataset after quality validation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57675" y="2381250"/>
            <a:ext cx="4505325" cy="87630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48175" y="2533650"/>
            <a:ext cx="571500" cy="571500"/>
          </a:xfrm>
          <a:prstGeom prst="roundRect">
            <a:avLst>
              <a:gd name="adj" fmla="val 6667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2075" y="2623245"/>
            <a:ext cx="20542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to Casual Ratio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2075" y="2855565"/>
            <a:ext cx="20542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89.9% members vs 10.1% casual riders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57675" y="3371850"/>
            <a:ext cx="4505325" cy="87630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48175" y="3524250"/>
            <a:ext cx="571500" cy="571500"/>
          </a:xfrm>
          <a:prstGeom prst="roundRect">
            <a:avLst>
              <a:gd name="adj" fmla="val 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72075" y="3613845"/>
            <a:ext cx="19438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Revenue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72075" y="3846165"/>
            <a:ext cx="1943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net revenue from conversions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period: Q1 2019 - Q1 2020 | Data validated with dual-approach methodology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81000" y="1648867"/>
            <a:ext cx="4023271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1000" y="1376511"/>
            <a:ext cx="41037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810792"/>
            <a:ext cx="4103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Cyclistic's finance analysts have concluded that </a:t>
            </a:r>
            <a:r>
              <a:rPr lang="en-US" sz="11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members are significantly more profitable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casual riders.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648992"/>
            <a:ext cx="410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targeting all new customers, the marketing strategy should focus on converting existing casual riders into members.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334792"/>
            <a:ext cx="4023271" cy="927497"/>
          </a:xfrm>
          <a:prstGeom prst="roundRect">
            <a:avLst>
              <a:gd name="adj" fmla="val 410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3487192"/>
            <a:ext cx="37928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33400" y="3736628"/>
            <a:ext cx="37928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annual members and casual riders use Cyclistic bikes differently?"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32871" y="2034629"/>
            <a:ext cx="4023271" cy="0"/>
          </a:xfrm>
          <a:prstGeom prst="line">
            <a:avLst/>
          </a:prstGeom>
          <a:noFill/>
          <a:ln w="1905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2871" y="1762274"/>
            <a:ext cx="41037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STAKEHOLDERS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32871" y="225370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3371" y="2196554"/>
            <a:ext cx="21465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Lily Moreno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Director of Marketing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32871" y="253558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3371" y="2478435"/>
            <a:ext cx="1663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Analytics Team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2871" y="281746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3371" y="2760315"/>
            <a:ext cx="2076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Team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Final approvers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32871" y="3486001"/>
            <a:ext cx="4023271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32871" y="3213646"/>
            <a:ext cx="41037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APPROACH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Data Analytics Professional Certificate Capstone Project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517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 &amp;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681883" y="1038225"/>
            <a:ext cx="1009948" cy="771376"/>
          </a:xfrm>
          <a:prstGeom prst="roundRect">
            <a:avLst>
              <a:gd name="adj" fmla="val 493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6093" y="1171575"/>
            <a:ext cx="6415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66093" y="1529655"/>
            <a:ext cx="641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Records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06130" y="129048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0930" y="1028700"/>
            <a:ext cx="933748" cy="790426"/>
          </a:xfrm>
          <a:prstGeom prst="roundRect">
            <a:avLst>
              <a:gd name="adj" fmla="val 4820"/>
            </a:avLst>
          </a:prstGeom>
          <a:solidFill>
            <a:srgbClr val="152238"/>
          </a:solidFill>
          <a:ln w="9525">
            <a:solidFill>
              <a:srgbClr val="FF6B9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05618" y="1171575"/>
            <a:ext cx="5443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05618" y="1529655"/>
            <a:ext cx="544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158978" y="129048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63778" y="1038225"/>
            <a:ext cx="998339" cy="771376"/>
          </a:xfrm>
          <a:prstGeom prst="roundRect">
            <a:avLst>
              <a:gd name="adj" fmla="val 4939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48105" y="1171575"/>
            <a:ext cx="6296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48105" y="1529655"/>
            <a:ext cx="62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Dataset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1821805"/>
            <a:ext cx="41037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2109341"/>
            <a:ext cx="4023271" cy="909638"/>
          </a:xfrm>
          <a:prstGeom prst="roundRect">
            <a:avLst>
              <a:gd name="adj" fmla="val 418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2242691"/>
            <a:ext cx="38317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Quarterly Datasets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14350" y="2492127"/>
            <a:ext cx="3756571" cy="3935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2019 - Q4 2019</a:t>
            </a:r>
            <a:endParaRPr lang="en-US" sz="900" dirty="0"/>
          </a:p>
          <a:p>
            <a:pPr marL="76200" indent="-76200" algn="l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3133279"/>
            <a:ext cx="4023271" cy="836116"/>
          </a:xfrm>
          <a:prstGeom prst="roundRect">
            <a:avLst>
              <a:gd name="adj" fmla="val 4557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" y="3266629"/>
            <a:ext cx="38317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Harmonization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14350" y="3516064"/>
            <a:ext cx="38317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3 different data formats into consistent schema with 26 standardized columns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1000" y="4083695"/>
            <a:ext cx="4023271" cy="676126"/>
          </a:xfrm>
          <a:prstGeom prst="roundRect">
            <a:avLst>
              <a:gd name="adj" fmla="val 563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4350" y="4217045"/>
            <a:ext cx="38317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14350" y="4466481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1, 2019 - March 31, 2020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94771" y="1946970"/>
            <a:ext cx="41037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 APPLIED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94771" y="2234505"/>
            <a:ext cx="4023271" cy="41910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8121" y="232975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71021" y="2363986"/>
            <a:ext cx="21870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rides &lt; 60 seconds (false starts)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4771" y="2729805"/>
            <a:ext cx="4023271" cy="41910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28121" y="282505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1021" y="2859286"/>
            <a:ext cx="2310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rides &gt; 24 hours (lost/stolen bikes)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94771" y="3225105"/>
            <a:ext cx="4023271" cy="41910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28121" y="332035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71021" y="3354586"/>
            <a:ext cx="21126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missing/invalid duration values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94771" y="3720405"/>
            <a:ext cx="4023271" cy="41910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28121" y="381565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71021" y="3849886"/>
            <a:ext cx="22292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Dual-approach validation (Strict vs Lenient)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94771" y="4215705"/>
            <a:ext cx="4023271" cy="41910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28121" y="431095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71021" y="4345186"/>
            <a:ext cx="2430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anomaly removal (234 suspicious records)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grade: EXCELLENT - All major anomalies identified and addressed through systematic analysis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304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#1: Ride Duration Patterns</a:t>
            </a:r>
            <a:endParaRPr lang="en-US" sz="2700" dirty="0"/>
          </a:p>
        </p:txBody>
      </p:sp>
      <p:pic>
        <p:nvPicPr>
          <p:cNvPr id="3" name="Image 0" descr="/tmp/rasterized-gradient-cd65e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20353"/>
            <a:ext cx="2933700" cy="1337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110853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9600" y="1385143"/>
            <a:ext cx="256489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09600" y="1880443"/>
            <a:ext cx="25648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rides for casual users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1000" y="2409974"/>
            <a:ext cx="2933700" cy="708571"/>
          </a:xfrm>
          <a:prstGeom prst="roundRect">
            <a:avLst>
              <a:gd name="adj" fmla="val 1075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2589014"/>
            <a:ext cx="4859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637086" y="2562374"/>
            <a:ext cx="53571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 min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3400" y="2889945"/>
            <a:ext cx="2628900" cy="7620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400" y="2889945"/>
            <a:ext cx="1524744" cy="762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81000" y="3270945"/>
            <a:ext cx="2933700" cy="708571"/>
          </a:xfrm>
          <a:prstGeom prst="roundRect">
            <a:avLst>
              <a:gd name="adj" fmla="val 1075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3400" y="3449985"/>
            <a:ext cx="3629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52402" y="3423345"/>
            <a:ext cx="6220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 min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3400" y="3750915"/>
            <a:ext cx="2628900" cy="76200"/>
          </a:xfrm>
          <a:prstGeom prst="roundRect">
            <a:avLst>
              <a:gd name="adj" fmla="val 50000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3400" y="3750915"/>
            <a:ext cx="2628900" cy="7620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81000" y="4131915"/>
            <a:ext cx="2933700" cy="586680"/>
          </a:xfrm>
          <a:prstGeom prst="roundRect">
            <a:avLst>
              <a:gd name="adj" fmla="val 1298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4350" y="4265265"/>
            <a:ext cx="2720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Casual riders use bikes for leisure, members for efficient transportation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43300" y="718245"/>
            <a:ext cx="532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DURATION DISTRIBUTION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significance: p &lt; 0.001 (T-test) | Analysis performed in R with ggplot2 visualization</a:t>
            </a:r>
            <a:endParaRPr lang="en-US" sz="75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2984877812"/>
              </p:ext>
            </p:extLst>
          </p:nvPr>
        </p:nvGraphicFramePr>
        <p:xfrm>
          <a:off x="3543300" y="1005780"/>
          <a:ext cx="52197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2463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#2: Weekly Usage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383734" y="891481"/>
            <a:ext cx="532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 BY DAY OF WEEK</a:t>
            </a:r>
            <a:endParaRPr lang="en-US" sz="975" dirty="0"/>
          </a:p>
        </p:txBody>
      </p:sp>
      <p:pic>
        <p:nvPicPr>
          <p:cNvPr id="4" name="Image 0" descr="/tmp/rasterized-gradient-b65e64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384102"/>
            <a:ext cx="2933700" cy="925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19800" y="1536502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19800" y="1753642"/>
            <a:ext cx="26426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Commuters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19800" y="1997422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Tue-Thu, work week pattern</a:t>
            </a:r>
            <a:endParaRPr lang="en-US" sz="900" dirty="0"/>
          </a:p>
        </p:txBody>
      </p:sp>
      <p:pic>
        <p:nvPicPr>
          <p:cNvPr id="8" name="Image 1" descr="/tmp/rasterized-gradient-725fe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424113"/>
            <a:ext cx="2933700" cy="9257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19800" y="2576513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019800" y="2793653"/>
            <a:ext cx="26426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Leisure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19800" y="3037433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Sat-Sun, recreation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829300" y="3464123"/>
            <a:ext cx="2933700" cy="790426"/>
          </a:xfrm>
          <a:prstGeom prst="roundRect">
            <a:avLst>
              <a:gd name="adj" fmla="val 964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62650" y="3597473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Opportunity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5962650" y="3801219"/>
            <a:ext cx="2720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casuals with occasional weekday rides show highest potential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consistent across all quarters analyzed | SQL aggregation verified with Excel pivot tables</a:t>
            </a:r>
            <a:endParaRPr lang="en-US" sz="75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661097847"/>
              </p:ext>
            </p:extLst>
          </p:nvPr>
        </p:nvGraphicFramePr>
        <p:xfrm>
          <a:off x="381000" y="1005780"/>
          <a:ext cx="5219700" cy="391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0034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#3: Dramatic Seasonality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28700"/>
            <a:ext cx="1908572" cy="1127522"/>
          </a:xfrm>
          <a:prstGeom prst="roundRect">
            <a:avLst>
              <a:gd name="adj" fmla="val 675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042988"/>
            <a:ext cx="1908572" cy="0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1209675"/>
            <a:ext cx="14803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(SUMMER PEAK)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09600" y="1432471"/>
            <a:ext cx="14803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600" y="1843832"/>
            <a:ext cx="14803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41972" y="1028700"/>
            <a:ext cx="1908572" cy="1127522"/>
          </a:xfrm>
          <a:prstGeom prst="roundRect">
            <a:avLst>
              <a:gd name="adj" fmla="val 675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41972" y="1042988"/>
            <a:ext cx="1908572" cy="0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70572" y="1209675"/>
            <a:ext cx="14803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(WINTER LOW)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670572" y="1432471"/>
            <a:ext cx="14803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670572" y="1843832"/>
            <a:ext cx="14803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900" dirty="0"/>
          </a:p>
        </p:txBody>
      </p:sp>
      <p:pic>
        <p:nvPicPr>
          <p:cNvPr id="13" name="Image 0" descr="/tmp/rasterized-gradient-a8eda9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944" y="1028700"/>
            <a:ext cx="1908572" cy="112752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31544" y="1209675"/>
            <a:ext cx="14803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VARIATION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731544" y="1432471"/>
            <a:ext cx="14803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60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4.4×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731544" y="1843832"/>
            <a:ext cx="14803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63916" y="1078260"/>
            <a:ext cx="2198936" cy="1028254"/>
          </a:xfrm>
          <a:prstGeom prst="roundRect">
            <a:avLst>
              <a:gd name="adj" fmla="val 741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92516" y="1230660"/>
            <a:ext cx="17765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Impact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792516" y="1434405"/>
            <a:ext cx="1776570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show even MORE dramatic seasonal swings than members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381000" y="230862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RIDE VOLUME BY USER TYPE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implication: Focus conversion campaigns in Q2-Q3 when casual engagement is highest</a:t>
            </a:r>
            <a:endParaRPr lang="en-US" sz="7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691338195"/>
              </p:ext>
            </p:extLst>
          </p:nvPr>
        </p:nvGraphicFramePr>
        <p:xfrm>
          <a:off x="381000" y="2558058"/>
          <a:ext cx="8382000" cy="2052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9160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#4: Rush Hour Behavior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12602"/>
            <a:ext cx="50676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RIDE DISTRIBUTION</a:t>
            </a:r>
            <a:endParaRPr lang="en-US" sz="975" dirty="0"/>
          </a:p>
        </p:txBody>
      </p:sp>
      <p:pic>
        <p:nvPicPr>
          <p:cNvPr id="4" name="Image 0" descr="/tmp/rasterized-gradient-d0c147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929" y="859482"/>
            <a:ext cx="3185071" cy="10705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8429" y="1011882"/>
            <a:ext cx="28990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DUAL PEAK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2498" y="1286173"/>
            <a:ext cx="6049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62498" y="1644253"/>
            <a:ext cx="6049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Rush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507979" y="1286173"/>
            <a:ext cx="60494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07979" y="1644253"/>
            <a:ext cx="6049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Rush</a:t>
            </a:r>
            <a:endParaRPr lang="en-US" sz="750" dirty="0"/>
          </a:p>
        </p:txBody>
      </p:sp>
      <p:pic>
        <p:nvPicPr>
          <p:cNvPr id="10" name="Image 1" descr="/tmp/rasterized-gradient-e2b4a7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929" y="2044303"/>
            <a:ext cx="3185071" cy="10705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8429" y="2196703"/>
            <a:ext cx="28990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CASUAL: SINGLE PEAK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40008" y="2470993"/>
            <a:ext cx="28990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PM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740008" y="2829074"/>
            <a:ext cx="28990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Leisure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577929" y="3229124"/>
            <a:ext cx="3185071" cy="830312"/>
          </a:xfrm>
          <a:prstGeom prst="roundRect">
            <a:avLst>
              <a:gd name="adj" fmla="val 917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711279" y="3362474"/>
            <a:ext cx="29767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711279" y="3579614"/>
            <a:ext cx="29767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exhibit classic commuter behavior; casual riders use bikes recreationally in afternoons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5577929" y="4173736"/>
            <a:ext cx="3185071" cy="605730"/>
          </a:xfrm>
          <a:prstGeom prst="roundRect">
            <a:avLst>
              <a:gd name="adj" fmla="val 12580"/>
            </a:avLst>
          </a:prstGeom>
          <a:solidFill>
            <a:srgbClr val="152238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720804" y="4316611"/>
            <a:ext cx="29573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Afternoon casual riders who could become morning commuters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Rush hour analysis confirms member value proposition centers on commute efficiency</a:t>
            </a:r>
            <a:endParaRPr lang="en-US" sz="75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3225597566"/>
              </p:ext>
            </p:extLst>
          </p:nvPr>
        </p:nvGraphicFramePr>
        <p:xfrm>
          <a:off x="381000" y="1100138"/>
          <a:ext cx="4968329" cy="3726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Conversion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28700"/>
            <a:ext cx="2692450" cy="1750368"/>
          </a:xfrm>
          <a:prstGeom prst="roundRect">
            <a:avLst>
              <a:gd name="adj" fmla="val 435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2760018"/>
            <a:ext cx="269245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2450" y="12001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7750" y="1290638"/>
            <a:ext cx="1271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Warriors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52450" y="1695450"/>
            <a:ext cx="239654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Saturday/Sunday riders who may benefit from unlimited weekend rides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215622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2450" y="2422922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casual rides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25850" y="1028700"/>
            <a:ext cx="2692450" cy="1750368"/>
          </a:xfrm>
          <a:prstGeom prst="roundRect">
            <a:avLst>
              <a:gd name="adj" fmla="val 435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25850" y="2760018"/>
            <a:ext cx="2692450" cy="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7300" y="12001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92600" y="1290638"/>
            <a:ext cx="15062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Long-Distance Riders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397300" y="1695450"/>
            <a:ext cx="239654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with 15+ minute average rides who would save money with membership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97300" y="215622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 min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97300" y="2422922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casual ride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070699" y="1028700"/>
            <a:ext cx="2692450" cy="1750368"/>
          </a:xfrm>
          <a:prstGeom prst="roundRect">
            <a:avLst>
              <a:gd name="adj" fmla="val 435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0699" y="2760018"/>
            <a:ext cx="269245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2149" y="12001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37449" y="1290638"/>
            <a:ext cx="12956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Casuals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42149" y="1695450"/>
            <a:ext cx="239654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PM riders who could shift to commuter behavior with right incentives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242149" y="2156222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9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42149" y="2422922"/>
            <a:ext cx="2396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time slot</a:t>
            </a:r>
            <a:endParaRPr lang="en-US" sz="825" dirty="0"/>
          </a:p>
        </p:txBody>
      </p:sp>
      <p:pic>
        <p:nvPicPr>
          <p:cNvPr id="24" name="Image 0" descr="/tmp/rasterized-gradient-c37ba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947095"/>
            <a:ext cx="4114800" cy="164723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71500" y="3137595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SHOULD CONVERT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800100" y="3425130"/>
            <a:ext cx="26324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$180/year vs pay-per-ride costs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800100" y="3693616"/>
            <a:ext cx="24643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per-ride planning needed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800100" y="3962102"/>
            <a:ext cx="2639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benefits: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 commute exercise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800100" y="4230588"/>
            <a:ext cx="23025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Environmental: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carbon footprint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648200" y="2847082"/>
            <a:ext cx="4114800" cy="1847552"/>
          </a:xfrm>
          <a:prstGeom prst="roundRect">
            <a:avLst>
              <a:gd name="adj" fmla="val 412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38700" y="3037582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CONVERSION RATE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4838700" y="3325118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4838700" y="3858518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casual riders annually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38700" y="4207073"/>
            <a:ext cx="3733800" cy="0"/>
          </a:xfrm>
          <a:prstGeom prst="line">
            <a:avLst/>
          </a:prstGeom>
          <a:noFill/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38700" y="4330898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29,500</a:t>
            </a:r>
            <a:r>
              <a:rPr lang="en-US" sz="97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members/year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 identified through behavioral clustering analysis across all data sources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Recommendations</a:t>
            </a:r>
            <a:endParaRPr lang="en-US" sz="2700" dirty="0"/>
          </a:p>
        </p:txBody>
      </p:sp>
      <p:pic>
        <p:nvPicPr>
          <p:cNvPr id="3" name="Image 0" descr="/tmp/rasterized-gradient-20a1d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90600"/>
            <a:ext cx="8382000" cy="9347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257895"/>
            <a:ext cx="762000" cy="4000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485900" y="1093291"/>
            <a:ext cx="7228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Warrior Campaign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485900" y="1363712"/>
            <a:ext cx="72283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targeted marketing at weekend casual riders with "Weekend Plus" membership tier</a:t>
            </a:r>
            <a:endParaRPr lang="en-US" sz="975" dirty="0"/>
          </a:p>
        </p:txBody>
      </p:sp>
      <p:pic>
        <p:nvPicPr>
          <p:cNvPr id="7" name="Image 1" descr="/tmp/rasterized-gradient-717064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058739"/>
            <a:ext cx="8382000" cy="9347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2326035"/>
            <a:ext cx="762000" cy="40005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485900" y="2161431"/>
            <a:ext cx="7228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Surge Initiative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485900" y="2431852"/>
            <a:ext cx="72283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60% of marketing budget in Q2-Q3 when casual engagement peaks</a:t>
            </a:r>
            <a:endParaRPr lang="en-US" sz="975" dirty="0"/>
          </a:p>
        </p:txBody>
      </p:sp>
      <p:pic>
        <p:nvPicPr>
          <p:cNvPr id="11" name="Image 2" descr="/tmp/rasterized-gradient-0e0441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26879"/>
            <a:ext cx="8382000" cy="9347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1000" y="3394174"/>
            <a:ext cx="762000" cy="40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485900" y="3229570"/>
            <a:ext cx="7228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 Conversion Program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485900" y="3499991"/>
            <a:ext cx="72283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afternoon casual riders (3-6 PM) with "Ride to Work" messaging showing cost savings vs transit</a:t>
            </a:r>
            <a:endParaRPr lang="en-US" sz="975" dirty="0"/>
          </a:p>
        </p:txBody>
      </p:sp>
      <p:sp>
        <p:nvSpPr>
          <p:cNvPr id="15" name="Text 10"/>
          <p:cNvSpPr/>
          <p:nvPr/>
        </p:nvSpPr>
        <p:spPr>
          <a:xfrm>
            <a:off x="381000" y="4195018"/>
            <a:ext cx="8382000" cy="415230"/>
          </a:xfrm>
          <a:prstGeom prst="roundRect">
            <a:avLst>
              <a:gd name="adj" fmla="val 18351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71500" y="4309318"/>
            <a:ext cx="24865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Impact (Moderate Scenario)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105400" y="4309318"/>
            <a:ext cx="130810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29,500</a:t>
            </a:r>
            <a:r>
              <a:rPr lang="en-US" sz="10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members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616452" y="4309318"/>
            <a:ext cx="11344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$4.1M</a:t>
            </a:r>
            <a:r>
              <a:rPr lang="en-US" sz="10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 revenue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957245" y="4309318"/>
            <a:ext cx="6275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342%</a:t>
            </a:r>
            <a:r>
              <a:rPr lang="en-US" sz="10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ROI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81000" y="47625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prioritized by data-backed conversion potential and implementation feasibility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33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Impact Projections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28700"/>
            <a:ext cx="2692450" cy="2161877"/>
          </a:xfrm>
          <a:prstGeom prst="roundRect">
            <a:avLst>
              <a:gd name="adj" fmla="val 35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042988"/>
            <a:ext cx="2692450" cy="0"/>
          </a:xfrm>
          <a:prstGeom prst="line">
            <a:avLst/>
          </a:prstGeom>
          <a:noFill/>
          <a:ln w="28575">
            <a:solidFill>
              <a:srgbClr val="8DA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2450" y="1228725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2450" y="1503015"/>
            <a:ext cx="23965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52450" y="1914376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members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2450" y="2193429"/>
            <a:ext cx="234955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2450" y="2319189"/>
            <a:ext cx="42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584252" y="2312491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2450" y="2517279"/>
            <a:ext cx="2198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584252" y="2510582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2450" y="2751534"/>
            <a:ext cx="234955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2450" y="2852440"/>
            <a:ext cx="546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Impact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453432" y="2832497"/>
            <a:ext cx="4575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+$2.8M</a:t>
            </a:r>
            <a:endParaRPr lang="en-US" sz="1050" dirty="0"/>
          </a:p>
        </p:txBody>
      </p:sp>
      <p:pic>
        <p:nvPicPr>
          <p:cNvPr id="16" name="Image 0" descr="/tmp/rasterized-gradient-95e466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50" y="1028700"/>
            <a:ext cx="2692450" cy="2161877"/>
          </a:xfrm>
          <a:prstGeom prst="rect">
            <a:avLst/>
          </a:prstGeom>
          <a:effectLst>
            <a:outerShdw blurRad="190500" dist="38100" dir="5400000" algn="bl" rotWithShape="0">
              <a:srgbClr val="00D4AA">
                <a:alpha val="20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3397300" y="1228725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★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97300" y="1503015"/>
            <a:ext cx="23965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29,500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3397300" y="1914376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members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97300" y="2193429"/>
            <a:ext cx="234955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397300" y="2319189"/>
            <a:ext cx="42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429101" y="2312491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$5.3M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397300" y="2517279"/>
            <a:ext cx="2198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429101" y="2510582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397300" y="2751534"/>
            <a:ext cx="234955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397300" y="2852440"/>
            <a:ext cx="546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Impact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298281" y="2832497"/>
            <a:ext cx="4575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+$4.1M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070699" y="1028700"/>
            <a:ext cx="2692450" cy="2161877"/>
          </a:xfrm>
          <a:prstGeom prst="roundRect">
            <a:avLst>
              <a:gd name="adj" fmla="val 352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070699" y="1042988"/>
            <a:ext cx="2692450" cy="0"/>
          </a:xfrm>
          <a:prstGeom prst="line">
            <a:avLst/>
          </a:prstGeom>
          <a:noFill/>
          <a:ln w="28575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42149" y="1228725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42149" y="1503015"/>
            <a:ext cx="23965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6242149" y="1914376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members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242149" y="2193429"/>
            <a:ext cx="234955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242149" y="2319189"/>
            <a:ext cx="42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8273951" y="2312491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$7.2M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42149" y="2517279"/>
            <a:ext cx="2198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8273951" y="2510582"/>
            <a:ext cx="324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$1.6M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242149" y="2751534"/>
            <a:ext cx="2349550" cy="0"/>
          </a:xfrm>
          <a:prstGeom prst="line">
            <a:avLst/>
          </a:prstGeom>
          <a:noFill/>
          <a:ln w="9525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242149" y="2852440"/>
            <a:ext cx="546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Impact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8143131" y="2832497"/>
            <a:ext cx="4575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+$5.6M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81000" y="3269010"/>
            <a:ext cx="6515100" cy="1319957"/>
          </a:xfrm>
          <a:prstGeom prst="roundRect">
            <a:avLst>
              <a:gd name="adj" fmla="val 577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52450" y="3440460"/>
            <a:ext cx="62956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CUMULATIVE (MODERATE)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552450" y="379839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52450" y="3798391"/>
            <a:ext cx="188565" cy="571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1238250" y="3747046"/>
            <a:ext cx="18277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+29,500 members | +$4.1M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52450" y="4053632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552450" y="4053632"/>
            <a:ext cx="377130" cy="571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238250" y="4002286"/>
            <a:ext cx="241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2: +25,000 members | +$7.5M cumulative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52450" y="4308872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52450" y="4308872"/>
            <a:ext cx="571500" cy="571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238250" y="4257526"/>
            <a:ext cx="24823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3: +22,000 members | +$10.2M cumulative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048500" y="3145185"/>
            <a:ext cx="1714500" cy="1567607"/>
          </a:xfrm>
          <a:prstGeom prst="roundRect">
            <a:avLst>
              <a:gd name="adj" fmla="val 4861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7515076" y="3278535"/>
            <a:ext cx="796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TOTAL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497812" y="3449985"/>
            <a:ext cx="8320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76,500</a:t>
            </a:r>
            <a:endParaRPr lang="en-US" sz="2100" dirty="0"/>
          </a:p>
        </p:txBody>
      </p:sp>
      <p:sp>
        <p:nvSpPr>
          <p:cNvPr id="55" name="Text 52"/>
          <p:cNvSpPr/>
          <p:nvPr/>
        </p:nvSpPr>
        <p:spPr>
          <a:xfrm>
            <a:off x="7576691" y="3861346"/>
            <a:ext cx="6711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members</a:t>
            </a:r>
            <a:endParaRPr lang="en-US" sz="825" dirty="0"/>
          </a:p>
        </p:txBody>
      </p:sp>
      <p:sp>
        <p:nvSpPr>
          <p:cNvPr id="56" name="Shape 53"/>
          <p:cNvSpPr/>
          <p:nvPr/>
        </p:nvSpPr>
        <p:spPr>
          <a:xfrm>
            <a:off x="7181850" y="4093666"/>
            <a:ext cx="1447800" cy="0"/>
          </a:xfrm>
          <a:prstGeom prst="line">
            <a:avLst/>
          </a:prstGeom>
          <a:noFill/>
          <a:ln w="1905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167372" y="4179391"/>
            <a:ext cx="14767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$21.8M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7167372" y="4446091"/>
            <a:ext cx="14767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381000" y="46672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based on $180 annual membership value and industry-standard conversion rates | ROI: ~350%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Forward</a:t>
            </a:r>
            <a:endParaRPr lang="en-US" sz="2700" dirty="0"/>
          </a:p>
        </p:txBody>
      </p:sp>
      <p:pic>
        <p:nvPicPr>
          <p:cNvPr id="3" name="Image 0" descr="/tmp/rasterized-gradient-7628dd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71724"/>
            <a:ext cx="4484340" cy="1582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550" y="1343174"/>
            <a:ext cx="41854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IS CLEAR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813495" y="1634579"/>
            <a:ext cx="2437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differences validated (p &lt; 0.001)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813495" y="1891754"/>
            <a:ext cx="193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opportunities identified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813495" y="2148929"/>
            <a:ext cx="24921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 compelling (350% ROI)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813495" y="2406104"/>
            <a:ext cx="1748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ready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81000" y="2907060"/>
            <a:ext cx="4484340" cy="1464766"/>
          </a:xfrm>
          <a:prstGeom prst="roundRect">
            <a:avLst>
              <a:gd name="adj" fmla="val 5202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2450" y="3078510"/>
            <a:ext cx="42242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52450" y="3385096"/>
            <a:ext cx="949672" cy="815280"/>
          </a:xfrm>
          <a:prstGeom prst="roundRect">
            <a:avLst>
              <a:gd name="adj" fmla="val 701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0108" y="3480346"/>
            <a:ext cx="774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108" y="3705076"/>
            <a:ext cx="774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infrastructure &amp; creative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616422" y="3451771"/>
            <a:ext cx="949672" cy="681930"/>
          </a:xfrm>
          <a:prstGeom prst="roundRect">
            <a:avLst>
              <a:gd name="adj" fmla="val 838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04081" y="3547021"/>
            <a:ext cx="774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704081" y="3771751"/>
            <a:ext cx="7743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spring campaigns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680395" y="3518446"/>
            <a:ext cx="949672" cy="548580"/>
          </a:xfrm>
          <a:prstGeom prst="roundRect">
            <a:avLst>
              <a:gd name="adj" fmla="val 1041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768053" y="3613696"/>
            <a:ext cx="774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68053" y="3838426"/>
            <a:ext cx="7743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optimize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744367" y="3518446"/>
            <a:ext cx="949672" cy="548580"/>
          </a:xfrm>
          <a:prstGeom prst="roundRect">
            <a:avLst>
              <a:gd name="adj" fmla="val 1041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832025" y="3613696"/>
            <a:ext cx="7743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32025" y="3838426"/>
            <a:ext cx="7743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focus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93940" y="1046113"/>
            <a:ext cx="3669060" cy="1681758"/>
          </a:xfrm>
          <a:prstGeom prst="roundRect">
            <a:avLst>
              <a:gd name="adj" fmla="val 453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65390" y="1217563"/>
            <a:ext cx="33926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5265390" y="1530846"/>
            <a:ext cx="891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8324552" y="1524149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265390" y="1812727"/>
            <a:ext cx="15933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members/month (peak)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8257729" y="1806029"/>
            <a:ext cx="3404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265390" y="2094607"/>
            <a:ext cx="106020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retention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8324552" y="2087910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265390" y="2376488"/>
            <a:ext cx="10627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net revenue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8254157" y="2369790"/>
            <a:ext cx="344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$4M+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093940" y="2880271"/>
            <a:ext cx="3669060" cy="1617166"/>
          </a:xfrm>
          <a:prstGeom prst="roundRect">
            <a:avLst>
              <a:gd name="adj" fmla="val 471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915707" y="3108871"/>
            <a:ext cx="202537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to Act</a:t>
            </a:r>
            <a:endParaRPr lang="en-US" sz="2100" dirty="0"/>
          </a:p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Now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6642646" y="3901232"/>
            <a:ext cx="571500" cy="28575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730050" y="4082207"/>
            <a:ext cx="23966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ready for execution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019550" y="4755803"/>
            <a:ext cx="1126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DA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| Questions?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959</Words>
  <Application>Microsoft Office PowerPoint</Application>
  <PresentationFormat>On-screen Show (16:9)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Analysis</dc:title>
  <dc:subject>Converting Casual Riders to Annual Members</dc:subject>
  <dc:creator>Data Analytics Portfolio</dc:creator>
  <cp:lastModifiedBy>aRwin S</cp:lastModifiedBy>
  <cp:revision>2</cp:revision>
  <dcterms:created xsi:type="dcterms:W3CDTF">2026-01-17T18:18:29Z</dcterms:created>
  <dcterms:modified xsi:type="dcterms:W3CDTF">2026-01-17T18:39:28Z</dcterms:modified>
</cp:coreProperties>
</file>